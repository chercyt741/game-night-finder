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515600" y="320040"/>
            <a:ext cx="502920" cy="502920"/>
          </a:xfrm>
          <a:prstGeom prst="line">
            <a:avLst/>
          </a:prstGeom>
          <a:noFill/>
          <a:ln w="12700">
            <a:solidFill>
              <a:srgbClr val="34E4C1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320040"/>
            <a:ext cx="365760" cy="685800"/>
          </a:xfrm>
          <a:prstGeom prst="line">
            <a:avLst/>
          </a:prstGeom>
          <a:noFill/>
          <a:ln w="12700">
            <a:solidFill>
              <a:srgbClr val="34E4C1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822960"/>
            <a:ext cx="411480" cy="457200"/>
          </a:xfrm>
          <a:prstGeom prst="line">
            <a:avLst/>
          </a:prstGeom>
          <a:noFill/>
          <a:ln w="12700">
            <a:solidFill>
              <a:srgbClr val="34E4C1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10927080" y="1005840"/>
            <a:ext cx="457200" cy="274320"/>
          </a:xfrm>
          <a:prstGeom prst="line">
            <a:avLst/>
          </a:prstGeom>
          <a:noFill/>
          <a:ln w="12700">
            <a:solidFill>
              <a:srgbClr val="34E4C1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74452" y="781812"/>
            <a:ext cx="82296" cy="82296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7" name="Shape 5"/>
          <p:cNvSpPr/>
          <p:nvPr/>
        </p:nvSpPr>
        <p:spPr>
          <a:xfrm>
            <a:off x="10977372" y="278892"/>
            <a:ext cx="82296" cy="82296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8" name="Shape 6"/>
          <p:cNvSpPr/>
          <p:nvPr/>
        </p:nvSpPr>
        <p:spPr>
          <a:xfrm>
            <a:off x="11320272" y="941832"/>
            <a:ext cx="128016" cy="128016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9" name="Shape 7"/>
          <p:cNvSpPr/>
          <p:nvPr/>
        </p:nvSpPr>
        <p:spPr>
          <a:xfrm>
            <a:off x="10885932" y="1239012"/>
            <a:ext cx="82296" cy="82296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產品各面向分析 · 01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競品分析：邊緣運算平台戰場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280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五大陣營在延遲、覆蓋範圍與開發者生態上的定位差異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246888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17830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017520" y="1783080"/>
            <a:ext cx="233172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127248" y="178308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陣營定位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349240" y="1783080"/>
            <a:ext cx="196596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58968" y="178308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全球節點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0" y="1783080"/>
            <a:ext cx="187452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24928" y="178308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典型延遲 (P50)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89720" y="1783080"/>
            <a:ext cx="233172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99448" y="178308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核心優勢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2240280"/>
            <a:ext cx="2468880" cy="713232"/>
          </a:xfrm>
          <a:prstGeom prst="rect">
            <a:avLst/>
          </a:prstGeom>
          <a:solidFill>
            <a:srgbClr val="17324A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2240280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017520" y="2240280"/>
            <a:ext cx="2331720" cy="713232"/>
          </a:xfrm>
          <a:prstGeom prst="rect">
            <a:avLst/>
          </a:prstGeom>
          <a:solidFill>
            <a:srgbClr val="17324A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127248" y="2240280"/>
            <a:ext cx="211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開發者導向 Edge PaaS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49240" y="2240280"/>
            <a:ext cx="1965960" cy="713232"/>
          </a:xfrm>
          <a:prstGeom prst="rect">
            <a:avLst/>
          </a:prstGeom>
          <a:solidFill>
            <a:srgbClr val="17324A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58968" y="2240280"/>
            <a:ext cx="17465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330+ 城市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15200" y="2240280"/>
            <a:ext cx="1874520" cy="713232"/>
          </a:xfrm>
          <a:prstGeom prst="rect">
            <a:avLst/>
          </a:prstGeom>
          <a:solidFill>
            <a:srgbClr val="17324A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24928" y="2240280"/>
            <a:ext cx="1655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8–15 ms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189720" y="2240280"/>
            <a:ext cx="2331720" cy="713232"/>
          </a:xfrm>
          <a:prstGeom prst="rect">
            <a:avLst/>
          </a:prstGeom>
          <a:solidFill>
            <a:srgbClr val="17324A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299448" y="2240280"/>
            <a:ext cx="211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 Isolate 冷啟動極快、生態最完整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2953512"/>
            <a:ext cx="2468880" cy="713232"/>
          </a:xfrm>
          <a:prstGeom prst="rect">
            <a:avLst/>
          </a:prstGeom>
          <a:solidFill>
            <a:srgbClr val="121F3D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8368" y="2953512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Wavelength / Outposts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017520" y="2953512"/>
            <a:ext cx="2331720" cy="713232"/>
          </a:xfrm>
          <a:prstGeom prst="rect">
            <a:avLst/>
          </a:prstGeom>
          <a:solidFill>
            <a:srgbClr val="121F3D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127248" y="2953512"/>
            <a:ext cx="211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電信 5G + 混合雲巨頭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349240" y="2953512"/>
            <a:ext cx="1965960" cy="713232"/>
          </a:xfrm>
          <a:prstGeom prst="rect">
            <a:avLst/>
          </a:prstGeom>
          <a:solidFill>
            <a:srgbClr val="121F3D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58968" y="2953512"/>
            <a:ext cx="17465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電信機房 + 本地機櫃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315200" y="2953512"/>
            <a:ext cx="1874520" cy="713232"/>
          </a:xfrm>
          <a:prstGeom prst="rect">
            <a:avLst/>
          </a:prstGeom>
          <a:solidFill>
            <a:srgbClr val="121F3D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24928" y="2953512"/>
            <a:ext cx="1655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依電信網路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189720" y="2953512"/>
            <a:ext cx="2331720" cy="713232"/>
          </a:xfrm>
          <a:prstGeom prst="rect">
            <a:avLst/>
          </a:prstGeom>
          <a:solidFill>
            <a:srgbClr val="121F3D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299448" y="2953512"/>
            <a:ext cx="211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深度整合 AWS 服務、企業級混合雲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48640" y="3666744"/>
            <a:ext cx="2468880" cy="713232"/>
          </a:xfrm>
          <a:prstGeom prst="rect">
            <a:avLst/>
          </a:prstGeom>
          <a:solidFill>
            <a:srgbClr val="121F3D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58368" y="3666744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Edge Zones / Stack Edge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017520" y="3666744"/>
            <a:ext cx="2331720" cy="713232"/>
          </a:xfrm>
          <a:prstGeom prst="rect">
            <a:avLst/>
          </a:prstGeom>
          <a:solidFill>
            <a:srgbClr val="121F3D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127248" y="3666744"/>
            <a:ext cx="211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混合雲硬體 Appliance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349240" y="3666744"/>
            <a:ext cx="1965960" cy="713232"/>
          </a:xfrm>
          <a:prstGeom prst="rect">
            <a:avLst/>
          </a:prstGeom>
          <a:solidFill>
            <a:srgbClr val="121F3D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458968" y="3666744"/>
            <a:ext cx="17465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指定城市 + 客戶端硬體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315200" y="3666744"/>
            <a:ext cx="1874520" cy="713232"/>
          </a:xfrm>
          <a:prstGeom prst="rect">
            <a:avLst/>
          </a:prstGeom>
          <a:solidFill>
            <a:srgbClr val="121F3D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424928" y="3666744"/>
            <a:ext cx="1655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依部署位置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189720" y="3666744"/>
            <a:ext cx="2331720" cy="713232"/>
          </a:xfrm>
          <a:prstGeom prst="rect">
            <a:avLst/>
          </a:prstGeom>
          <a:solidFill>
            <a:srgbClr val="121F3D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299448" y="3666744"/>
            <a:ext cx="211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IoT/AI 推論一體機、Azure 生態整合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48640" y="4379976"/>
            <a:ext cx="2468880" cy="713232"/>
          </a:xfrm>
          <a:prstGeom prst="rect">
            <a:avLst/>
          </a:prstGeom>
          <a:solidFill>
            <a:srgbClr val="121F3D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58368" y="4379976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Edge Functions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3017520" y="4379976"/>
            <a:ext cx="2331720" cy="713232"/>
          </a:xfrm>
          <a:prstGeom prst="rect">
            <a:avLst/>
          </a:prstGeom>
          <a:solidFill>
            <a:srgbClr val="121F3D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127248" y="4379976"/>
            <a:ext cx="211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前端框架綁定 Edge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349240" y="4379976"/>
            <a:ext cx="1965960" cy="713232"/>
          </a:xfrm>
          <a:prstGeom prst="rect">
            <a:avLst/>
          </a:prstGeom>
          <a:solidFill>
            <a:srgbClr val="121F3D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458968" y="4379976"/>
            <a:ext cx="17465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跟隨主要 CDN 節點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315200" y="4379976"/>
            <a:ext cx="1874520" cy="713232"/>
          </a:xfrm>
          <a:prstGeom prst="rect">
            <a:avLst/>
          </a:prstGeom>
          <a:solidFill>
            <a:srgbClr val="121F3D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424928" y="4379976"/>
            <a:ext cx="1655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中低（框架優化）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9189720" y="4379976"/>
            <a:ext cx="2331720" cy="713232"/>
          </a:xfrm>
          <a:prstGeom prst="rect">
            <a:avLst/>
          </a:prstGeom>
          <a:solidFill>
            <a:srgbClr val="121F3D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299448" y="4379976"/>
            <a:ext cx="211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Next.js 無縫整合、SSR 加速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48640" y="5093208"/>
            <a:ext cx="2468880" cy="713232"/>
          </a:xfrm>
          <a:prstGeom prst="rect">
            <a:avLst/>
          </a:prstGeom>
          <a:solidFill>
            <a:srgbClr val="121F3D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58368" y="5093208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Fastly Compute@Edge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3017520" y="5093208"/>
            <a:ext cx="2331720" cy="713232"/>
          </a:xfrm>
          <a:prstGeom prst="rect">
            <a:avLst/>
          </a:prstGeom>
          <a:solidFill>
            <a:srgbClr val="121F3D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3127248" y="5093208"/>
            <a:ext cx="211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老牌 CDN 轉型 Edge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5349240" y="5093208"/>
            <a:ext cx="1965960" cy="713232"/>
          </a:xfrm>
          <a:prstGeom prst="rect">
            <a:avLst/>
          </a:prstGeom>
          <a:solidFill>
            <a:srgbClr val="121F3D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458968" y="5093208"/>
            <a:ext cx="17465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全球骨幹節點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7315200" y="5093208"/>
            <a:ext cx="1874520" cy="713232"/>
          </a:xfrm>
          <a:prstGeom prst="rect">
            <a:avLst/>
          </a:prstGeom>
          <a:solidFill>
            <a:srgbClr val="121F3D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7424928" y="5093208"/>
            <a:ext cx="1655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低（Wasm 執行）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9189720" y="5093208"/>
            <a:ext cx="2331720" cy="713232"/>
          </a:xfrm>
          <a:prstGeom prst="rect">
            <a:avLst/>
          </a:prstGeom>
          <a:solidFill>
            <a:srgbClr val="121F3D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9299448" y="5093208"/>
            <a:ext cx="211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WebAssembly 沙盒、企業穩定性</a:t>
            </a:r>
            <a:endParaRPr lang="en-US" sz="1050" dirty="0"/>
          </a:p>
        </p:txBody>
      </p:sp>
      <p:sp>
        <p:nvSpPr>
          <p:cNvPr id="73" name="Text 71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洞察：Cloudflare 在「開發者體驗 × 延遲」象限領先；電信/雲端巨頭則主打企業混合雲場景，兩條賽道尚未直接重疊。</a:t>
            </a:r>
            <a:endParaRPr lang="en-US" sz="1150" dirty="0"/>
          </a:p>
        </p:txBody>
      </p:sp>
      <p:sp>
        <p:nvSpPr>
          <p:cNvPr id="74" name="Text 72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 · 主題讀書會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產品各面向分析 · 02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體驗分析：開發者上手到上線的落差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以「上手難易度」×「執行效能」定位四大平台的體驗曲線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0350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4023360"/>
            <a:ext cx="521208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2240280"/>
            <a:ext cx="0" cy="356616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上手容易度 →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258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執行效能 →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70018" y="2395728"/>
            <a:ext cx="402336" cy="402336"/>
          </a:xfrm>
          <a:prstGeom prst="ellipse">
            <a:avLst/>
          </a:prstGeom>
          <a:solidFill>
            <a:srgbClr val="34E4C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85386" y="279806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586984" y="3180283"/>
            <a:ext cx="402336" cy="402336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02352" y="3582619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02152" y="2645359"/>
            <a:ext cx="402336" cy="402336"/>
          </a:xfrm>
          <a:prstGeom prst="ellipse">
            <a:avLst/>
          </a:prstGeom>
          <a:solidFill>
            <a:srgbClr val="6D2E4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17520" y="3047695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Fastly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Compute@Edge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72461" y="3108960"/>
            <a:ext cx="402336" cy="402336"/>
          </a:xfrm>
          <a:prstGeom prst="ellipse">
            <a:avLst/>
          </a:prstGeom>
          <a:solidFill>
            <a:srgbClr val="5B6B8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287829" y="351129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Stack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95160" y="1874520"/>
            <a:ext cx="4617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364152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23760" y="2103120"/>
            <a:ext cx="310896" cy="310896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80960" y="203911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上線速度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2404872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Cloudflare：wrangler deploy 幾秒完成；Azure Stack Edge：需硬體到貨與現場部署，動輒數週。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995160" y="3337560"/>
            <a:ext cx="4617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364152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23760" y="356616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680960" y="350215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除錯與可觀測性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680960" y="3867912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Vercel/Cloudflare 提供即時 log 與 dashboard；電信級方案多仰賴既有維運團隊與工單流程。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95160" y="4800600"/>
            <a:ext cx="4617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364152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23760" y="5029200"/>
            <a:ext cx="310896" cy="31089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680960" y="496519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學習曲線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680960" y="5330952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框架綁定型（Vercel）幾乎零學習成本；Wasm 沙盒（Fastly）需額外掌握編譯流程。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 · 主題讀書會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515600" y="320040"/>
            <a:ext cx="502920" cy="502920"/>
          </a:xfrm>
          <a:prstGeom prst="line">
            <a:avLst/>
          </a:prstGeom>
          <a:noFill/>
          <a:ln w="12700">
            <a:solidFill>
              <a:srgbClr val="34E4C1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320040"/>
            <a:ext cx="365760" cy="685800"/>
          </a:xfrm>
          <a:prstGeom prst="line">
            <a:avLst/>
          </a:prstGeom>
          <a:noFill/>
          <a:ln w="12700">
            <a:solidFill>
              <a:srgbClr val="34E4C1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822960"/>
            <a:ext cx="411480" cy="457200"/>
          </a:xfrm>
          <a:prstGeom prst="line">
            <a:avLst/>
          </a:prstGeom>
          <a:noFill/>
          <a:ln w="12700">
            <a:solidFill>
              <a:srgbClr val="34E4C1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10927080" y="1005840"/>
            <a:ext cx="457200" cy="274320"/>
          </a:xfrm>
          <a:prstGeom prst="line">
            <a:avLst/>
          </a:prstGeom>
          <a:noFill/>
          <a:ln w="12700">
            <a:solidFill>
              <a:srgbClr val="34E4C1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74452" y="781812"/>
            <a:ext cx="82296" cy="82296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7" name="Shape 5"/>
          <p:cNvSpPr/>
          <p:nvPr/>
        </p:nvSpPr>
        <p:spPr>
          <a:xfrm>
            <a:off x="10977372" y="278892"/>
            <a:ext cx="82296" cy="82296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8" name="Shape 6"/>
          <p:cNvSpPr/>
          <p:nvPr/>
        </p:nvSpPr>
        <p:spPr>
          <a:xfrm>
            <a:off x="11320272" y="941832"/>
            <a:ext cx="128016" cy="128016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9" name="Shape 7"/>
          <p:cNvSpPr/>
          <p:nvPr/>
        </p:nvSpPr>
        <p:spPr>
          <a:xfrm>
            <a:off x="10885932" y="1239012"/>
            <a:ext cx="82296" cy="82296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產品各面向分析 · 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7498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產品剖析：以 Cloudflare Workers 拆解邊緣架構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280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從使用者請求進站到邊緣執行完成的四層架構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187452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121F3D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651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 Anycast 路由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355848"/>
            <a:ext cx="224028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使用者請求依 Anycast 自動導向地理位置最近的 PoP（330+ 城市），無需額外 DNS 設定。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72968" y="3657600"/>
            <a:ext cx="164592" cy="0"/>
          </a:xfrm>
          <a:prstGeom prst="line">
            <a:avLst/>
          </a:prstGeom>
          <a:noFill/>
          <a:ln w="19050">
            <a:solidFill>
              <a:srgbClr val="34E4C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355848" y="187452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121F3D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38728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3538728" y="2651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 Isolate 執行環境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3538728" y="3355848"/>
            <a:ext cx="224028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V8 Isolate 取代傳統 Container，冷啟動 &lt; 5ms，單機可併發數千個輕量隔離環境。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80176" y="3657600"/>
            <a:ext cx="164592" cy="0"/>
          </a:xfrm>
          <a:prstGeom prst="line">
            <a:avLst/>
          </a:prstGeom>
          <a:noFill/>
          <a:ln w="19050">
            <a:solidFill>
              <a:srgbClr val="34E4C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163056" y="187452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121F3D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45936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6345936" y="2651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邊緣資料層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6345936" y="3355848"/>
            <a:ext cx="224028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KV（低延遲鍵值）、R2（物件儲存無出站費）、D1（邊緣 SQLite）就近提供資料，減少回源。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787384" y="3657600"/>
            <a:ext cx="164592" cy="0"/>
          </a:xfrm>
          <a:prstGeom prst="line">
            <a:avLst/>
          </a:prstGeom>
          <a:noFill/>
          <a:ln w="19050">
            <a:solidFill>
              <a:srgbClr val="34E4C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970264" y="187452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121F3D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53144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9153144" y="2651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Objects 狀態層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9153144" y="3355848"/>
            <a:ext cx="224028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需要強一致狀態（如協作編輯、WebSocket 房間）時，由單一 Durable Object 實例處理協調。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關鍵限制：CPU 時間受限（單次請求毫秒級配額）、無法跑長時間任務 — 適合「輕量、高頻、低延遲」邏輯，非重運算場景。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 · 主題讀書會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2026-09-07T15:24:36Z</dcterms:created>
  <dcterms:modified xsi:type="dcterms:W3CDTF">2026-09-07T15:24:36Z</dcterms:modified>
</cp:coreProperties>
</file>